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321300886344c0" /><Relationship Type="http://schemas.openxmlformats.org/officeDocument/2006/relationships/extended-properties" Target="/docProps/app.xml" Id="R926d1cd5a3884009" /><Relationship Type="http://schemas.openxmlformats.org/officeDocument/2006/relationships/officeDocument" Target="/ppt/presentation.xml" Id="Rf6cbbf224a6d42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81a8dac6424e0d"/>
  </p:sldMasterIdLst>
  <p:notesMasterIdLst>
    <p:notesMasterId xmlns:r="http://schemas.openxmlformats.org/officeDocument/2006/relationships" r:id="Rd5f1363eff534d22"/>
  </p:notesMasterIdLst>
  <p:sldIdLst>
    <p:sldId xmlns:r="http://schemas.openxmlformats.org/officeDocument/2006/relationships" id="256" r:id="Rce7c4ac615f945b7"/>
    <p:sldId xmlns:r="http://schemas.openxmlformats.org/officeDocument/2006/relationships" id="257" r:id="R72f2adc828aa4d03"/>
    <p:sldId xmlns:r="http://schemas.openxmlformats.org/officeDocument/2006/relationships" id="258" r:id="Rcdee2ac8491d41ca"/>
    <p:sldId xmlns:r="http://schemas.openxmlformats.org/officeDocument/2006/relationships" id="259" r:id="R7b4024afa9fb4f66"/>
    <p:sldId xmlns:r="http://schemas.openxmlformats.org/officeDocument/2006/relationships" id="260" r:id="R569dd4613f6c432e"/>
    <p:sldId xmlns:r="http://schemas.openxmlformats.org/officeDocument/2006/relationships" id="261" r:id="R63db62253e3845f6"/>
    <p:sldId xmlns:r="http://schemas.openxmlformats.org/officeDocument/2006/relationships" id="262" r:id="Rec7e4f38872d4ce8"/>
    <p:sldId xmlns:r="http://schemas.openxmlformats.org/officeDocument/2006/relationships" id="263" r:id="R8ed9fef7f0644f2f"/>
    <p:sldId xmlns:r="http://schemas.openxmlformats.org/officeDocument/2006/relationships" id="264" r:id="R75925bfe619f4a9e"/>
    <p:sldId xmlns:r="http://schemas.openxmlformats.org/officeDocument/2006/relationships" id="265" r:id="R4e7bf6dc1f9647ed"/>
    <p:sldId xmlns:r="http://schemas.openxmlformats.org/officeDocument/2006/relationships" id="266" r:id="R30a584f324a94415"/>
    <p:sldId xmlns:r="http://schemas.openxmlformats.org/officeDocument/2006/relationships" id="267" r:id="Rc8d5ff3bc66340d0"/>
    <p:sldId xmlns:r="http://schemas.openxmlformats.org/officeDocument/2006/relationships" id="268" r:id="Rc43c9732e3ae4d69"/>
    <p:sldId xmlns:r="http://schemas.openxmlformats.org/officeDocument/2006/relationships" id="269" r:id="Rca48dda23fc149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36e37b5384c78" /><Relationship Type="http://schemas.openxmlformats.org/officeDocument/2006/relationships/slideMaster" Target="/ppt/slideMasters/slideMaster1.xml" Id="R1f81a8dac6424e0d" /><Relationship Type="http://schemas.openxmlformats.org/officeDocument/2006/relationships/notesMaster" Target="/ppt/notesMasters/notesMaster1.xml" Id="Rd5f1363eff534d22" /><Relationship Type="http://schemas.openxmlformats.org/officeDocument/2006/relationships/presProps" Target="/ppt/presProps.xml" Id="Rc487f54d701a47ac" /><Relationship Type="http://schemas.openxmlformats.org/officeDocument/2006/relationships/tableStyles" Target="/ppt/tableStyles.xml" Id="Rcfe93cd9b20a441a" /><Relationship Type="http://schemas.openxmlformats.org/officeDocument/2006/relationships/slide" Target="/ppt/slides/slide1.xml" Id="Rce7c4ac615f945b7" /><Relationship Type="http://schemas.openxmlformats.org/officeDocument/2006/relationships/slide" Target="/ppt/slides/slide2.xml" Id="R72f2adc828aa4d03" /><Relationship Type="http://schemas.openxmlformats.org/officeDocument/2006/relationships/slide" Target="/ppt/slides/slide3.xml" Id="Rcdee2ac8491d41ca" /><Relationship Type="http://schemas.openxmlformats.org/officeDocument/2006/relationships/slide" Target="/ppt/slides/slide4.xml" Id="R7b4024afa9fb4f66" /><Relationship Type="http://schemas.openxmlformats.org/officeDocument/2006/relationships/slide" Target="/ppt/slides/slide5.xml" Id="R569dd4613f6c432e" /><Relationship Type="http://schemas.openxmlformats.org/officeDocument/2006/relationships/slide" Target="/ppt/slides/slide6.xml" Id="R63db62253e3845f6" /><Relationship Type="http://schemas.openxmlformats.org/officeDocument/2006/relationships/slide" Target="/ppt/slides/slide7.xml" Id="Rec7e4f38872d4ce8" /><Relationship Type="http://schemas.openxmlformats.org/officeDocument/2006/relationships/slide" Target="/ppt/slides/slide8.xml" Id="R8ed9fef7f0644f2f" /><Relationship Type="http://schemas.openxmlformats.org/officeDocument/2006/relationships/slide" Target="/ppt/slides/slide9.xml" Id="R75925bfe619f4a9e" /><Relationship Type="http://schemas.openxmlformats.org/officeDocument/2006/relationships/slide" Target="/ppt/slides/slide10.xml" Id="R4e7bf6dc1f9647ed" /><Relationship Type="http://schemas.openxmlformats.org/officeDocument/2006/relationships/slide" Target="/ppt/slides/slide11.xml" Id="R30a584f324a94415" /><Relationship Type="http://schemas.openxmlformats.org/officeDocument/2006/relationships/slide" Target="/ppt/slides/slide12.xml" Id="Rc8d5ff3bc66340d0" /><Relationship Type="http://schemas.openxmlformats.org/officeDocument/2006/relationships/slide" Target="/ppt/slides/slide13.xml" Id="Rc43c9732e3ae4d69" /><Relationship Type="http://schemas.openxmlformats.org/officeDocument/2006/relationships/slide" Target="/ppt/slides/slide14.xml" Id="Rca48dda23fc1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19528f13fd40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4227d559df45b1" /><Relationship Type="http://schemas.openxmlformats.org/officeDocument/2006/relationships/notesMaster" Target="/ppt/notesMasters/notesMaster1.xml" Id="Rae12fc5b9ecb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ec723d3c44159" /><Relationship Type="http://schemas.openxmlformats.org/officeDocument/2006/relationships/notesMaster" Target="/ppt/notesMasters/notesMaster1.xml" Id="Rb1232ecff5054d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bb05cf8fb4bf3" /><Relationship Type="http://schemas.openxmlformats.org/officeDocument/2006/relationships/notesMaster" Target="/ppt/notesMasters/notesMaster1.xml" Id="R3c486b712687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189f2ab864428" /><Relationship Type="http://schemas.openxmlformats.org/officeDocument/2006/relationships/notesMaster" Target="/ppt/notesMasters/notesMaster1.xml" Id="Rdf0f67f6d7d045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6eefb3507f4637" /><Relationship Type="http://schemas.openxmlformats.org/officeDocument/2006/relationships/notesMaster" Target="/ppt/notesMasters/notesMaster1.xml" Id="R957b881c4e6b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344f76bd774f3b" /><Relationship Type="http://schemas.openxmlformats.org/officeDocument/2006/relationships/notesMaster" Target="/ppt/notesMasters/notesMaster1.xml" Id="Rbccde9ee30bc4a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703dc5534041dc" /><Relationship Type="http://schemas.openxmlformats.org/officeDocument/2006/relationships/notesMaster" Target="/ppt/notesMasters/notesMaster1.xml" Id="Rd98fcf9d4a1c49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0362c47b604f97" /><Relationship Type="http://schemas.openxmlformats.org/officeDocument/2006/relationships/notesMaster" Target="/ppt/notesMasters/notesMaster1.xml" Id="Ra9d5f8f2c5be47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5548a151004fda" /><Relationship Type="http://schemas.openxmlformats.org/officeDocument/2006/relationships/notesMaster" Target="/ppt/notesMasters/notesMaster1.xml" Id="Rf155d4b8751a4b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734c6640c74071" /><Relationship Type="http://schemas.openxmlformats.org/officeDocument/2006/relationships/notesMaster" Target="/ppt/notesMasters/notesMaster1.xml" Id="Raec7221a217444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79ee2d119941e6" /><Relationship Type="http://schemas.openxmlformats.org/officeDocument/2006/relationships/notesMaster" Target="/ppt/notesMasters/notesMaster1.xml" Id="R68a677548b39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9f43cad0164a1f" /><Relationship Type="http://schemas.openxmlformats.org/officeDocument/2006/relationships/notesMaster" Target="/ppt/notesMasters/notesMaster1.xml" Id="R302305c09a234e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7aa94ce7bf4d4f" /><Relationship Type="http://schemas.openxmlformats.org/officeDocument/2006/relationships/notesMaster" Target="/ppt/notesMasters/notesMaster1.xml" Id="Rebb4769b07894b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bf2df50a0c4e89" /><Relationship Type="http://schemas.openxmlformats.org/officeDocument/2006/relationships/notesMaster" Target="/ppt/notesMasters/notesMaster1.xml" Id="R56537920167b4d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three team members. This is a custom Python simulation and dashboard. It does not implement a full wireless stack or standard RPL. The evaluation uses synthetic modeled energy.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our simulator model and RFC 6550 background, https://www.rfc-editor.org/rfc/rfc6550.html. Explain sensors, relays, gateway, and why a relay affects upstream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Background: RFC 6550, https://www.rfc-editor.org/rfc/rfc6550.html; RFC 6551, https://www.rfc-editor.org/rfc/rfc6551.html; RFC 6719, https://www.rfc-editor.org/rfc/rfc6719.html. The two implemented baselines are custom controls, not standard RPL or MRHOF implementations.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editable algorithm architecture diagram, not a hardware deployment. The simulator has global state for execution and visualization. Parent choice reads local received observations. Initial BFS levels are centrally computed.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Background: NIST/SEMATECH e-Handbook of Statistical Methods, Single Exponential Smoothing, https://www.itl.nist.gov/div898/handbook/pmc/section4/pmc431.htm. This implementation smooths recent energy drain, then linearly projects remaining energy. It does not train a neural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cost is a local normalized score, not an accumulated end-to-end path metric. Strict decreasing initial levels prevent loops but exclude some post-failure detours. All terms are clamped to comparable ranges. Gateway eligibility is preferred.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arithmetic, not a trace quoted from experiments. Both capacities are 100 EU, advertisement age is zero, H=40 s, queue limit=20. Reactive cost prefers A (.1800 versus .2725). Predictive cost prefers B (.4140 versus .2985). The improvement .1155 exceeds hysteresis .06.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dependencies: Python standard library only. Source: Config and Simulation in simulator.py, app.py, static/index.html. Energy units are illustrative. One-second service slots are not measured radio transmission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experiments.py and results/experiments.csv. Five scenarios times ten matched seeds times three policies equals 150 runs. Use sample standard deviation. No formal significance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means and sample SD from results/summary.json. Values are percent of all scheduled sensor readings, including unavailable source demand. The improvement beyond reactive routing is smaller than the gain relative to shortest-hop.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results/summary.json, means over ten matched seeds per load. The chart displays means only. Sample SD is in the preceding table and report plots. Literal chart data are embedded for editability.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 and results/F2_Team19_Simulation.json. In repeated burst runs, predictive mean delay is 13.43 seconds versus 15.38 seconds for shortest-hop. The default seed-42 example is a separate run and shows why no universal improvement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MODEL.md and actual experiments. No real RF, hardware calibration, or protocol compliance is claimed. Tests verify algorithm and accounting invariants, not the fidelity of a complete wireless network stack.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[1] T. Winter et al., RPL, RFC 6550, March 2012, doi:10.17487/RFC6550. [2] J. P. Vasseur et al., Routing Metrics Used for Path Calculation in Low-Power and Lossy Networks, RFC 6551, March 2012, doi:10.17487/RFC6551. [3] O. Gnawali and P. Levis, MRHOF, RFC 6719, September 2012, doi:10.17487/RFC6719. [4] NIST/SEMATECH e-Handbook, Single Exponential Smoothing, https://www.itl.nist.gov/div898/handbook/pmc/section4/pmc431.htm. Live demo: run app.py, switch strategies, alter a parameter, inspect decisions, and explain actual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5b762e88c4a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d0cb5a9eb4d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90031a6bd47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c6fef50fd41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f0163321241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77f591f11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4E68ED-911A-4371-ACA8-456217DE2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B5C9B9-7A83-496F-963D-B4C9D41E22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BA190F-1690-438E-AC47-D6C1413E2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0E7CE7-910E-4E56-BACE-EBF96FC71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DEDD9C-1717-4C20-BCF6-AC51F6C4F4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39E3EB-2724-4909-BA1B-A8C72FB76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97366A-6F6F-4AE4-A462-E4DDC0C60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240623-CB8F-41F7-889E-DE3FF2B3E9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93A7BA-70E4-4ACE-A6E7-B71BFD09D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97F301-4669-4415-95AB-003E81B9A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3a3ab1e4954e1a" /><Relationship Type="http://schemas.openxmlformats.org/officeDocument/2006/relationships/slideLayout" Target="/ppt/slideLayouts/slideLayout1.xml" Id="Re1b90f894cea4026" /><Relationship Type="http://schemas.openxmlformats.org/officeDocument/2006/relationships/slideLayout" Target="/ppt/slideLayouts/slideLayout2.xml" Id="R07ad9939197f4576" /><Relationship Type="http://schemas.openxmlformats.org/officeDocument/2006/relationships/slideLayout" Target="/ppt/slideLayouts/slideLayout3.xml" Id="Raf4d74d95d7640cc" /><Relationship Type="http://schemas.openxmlformats.org/officeDocument/2006/relationships/slideLayout" Target="/ppt/slideLayouts/slideLayout4.xml" Id="Rd13ee5de87ec4f69" /><Relationship Type="http://schemas.openxmlformats.org/officeDocument/2006/relationships/slideLayout" Target="/ppt/slideLayouts/slideLayout5.xml" Id="R4d45f91f2e0f48a4" /><Relationship Type="http://schemas.openxmlformats.org/officeDocument/2006/relationships/slideLayout" Target="/ppt/slideLayouts/slideLayout6.xml" Id="R75bfa68ae22642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90f894cea4026"/>
    <p:sldLayoutId xmlns:r="http://schemas.openxmlformats.org/officeDocument/2006/relationships" id="2147483650" r:id="R07ad9939197f4576"/>
    <p:sldLayoutId xmlns:r="http://schemas.openxmlformats.org/officeDocument/2006/relationships" id="2147483651" r:id="Raf4d74d95d7640cc"/>
    <p:sldLayoutId xmlns:r="http://schemas.openxmlformats.org/officeDocument/2006/relationships" id="2147483652" r:id="Rd13ee5de87ec4f69"/>
    <p:sldLayoutId xmlns:r="http://schemas.openxmlformats.org/officeDocument/2006/relationships" id="2147483653" r:id="R4d45f91f2e0f48a4"/>
    <p:sldLayoutId xmlns:r="http://schemas.openxmlformats.org/officeDocument/2006/relationships" id="2147483654" r:id="R75bfa68ae22642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74b4d42194c5e" /><Relationship Type="http://schemas.openxmlformats.org/officeDocument/2006/relationships/notesSlide" Target="/ppt/notesSlides/notesSlide1.xml" Id="Rc9f0644b340c43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43a7666dd40d2" /><Relationship Type="http://schemas.openxmlformats.org/officeDocument/2006/relationships/notesSlide" Target="/ppt/notesSlides/notesSlide2.xml" Id="R58e447d5dcba45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f43f41e794a47" /><Relationship Type="http://schemas.openxmlformats.org/officeDocument/2006/relationships/notesSlide" Target="/ppt/notesSlides/notesSlide3.xml" Id="R3c07dbed445a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0fe9f683b4954" /><Relationship Type="http://schemas.openxmlformats.org/officeDocument/2006/relationships/notesSlide" Target="/ppt/notesSlides/notesSlide4.xml" Id="R7679ac3893e4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0fed180fd42a7" /><Relationship Type="http://schemas.openxmlformats.org/officeDocument/2006/relationships/notesSlide" Target="/ppt/notesSlides/notesSlide5.xml" Id="Rf4f250a2030745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533733e8141b1" /><Relationship Type="http://schemas.openxmlformats.org/officeDocument/2006/relationships/notesSlide" Target="/ppt/notesSlides/notesSlide6.xml" Id="Rd3310c867e3a4a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40796cf8c49d4" /><Relationship Type="http://schemas.openxmlformats.org/officeDocument/2006/relationships/notesSlide" Target="/ppt/notesSlides/notesSlide7.xml" Id="Redfc5e7fe35c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cb3e4fea441bc" /><Relationship Type="http://schemas.openxmlformats.org/officeDocument/2006/relationships/notesSlide" Target="/ppt/notesSlides/notesSlide8.xml" Id="R96a77f64f0964c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a632d41a249b0" /><Relationship Type="http://schemas.openxmlformats.org/officeDocument/2006/relationships/notesSlide" Target="/ppt/notesSlides/notesSlide9.xml" Id="R6924723c357048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0b0aaaa574139" /><Relationship Type="http://schemas.openxmlformats.org/officeDocument/2006/relationships/notesSlide" Target="/ppt/notesSlides/notesSlide10.xml" Id="R729a3bc3a27045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6a7c5bbcc4abd" /><Relationship Type="http://schemas.openxmlformats.org/officeDocument/2006/relationships/chart" Target="/ppt/slides/charts/chart1.xml" Id="R06fbaa198ce64dbd" /><Relationship Type="http://schemas.openxmlformats.org/officeDocument/2006/relationships/notesSlide" Target="/ppt/notesSlides/notesSlide11.xml" Id="Rb29ce5986ade44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d352476a546db" /><Relationship Type="http://schemas.openxmlformats.org/officeDocument/2006/relationships/notesSlide" Target="/ppt/notesSlides/notesSlide12.xml" Id="Rec98f4f32aba44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06d24fc4c47cd" /><Relationship Type="http://schemas.openxmlformats.org/officeDocument/2006/relationships/notesSlide" Target="/ppt/notesSlides/notesSlide13.xml" Id="Rc9cbc9a702944e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59aa332404458" /><Relationship Type="http://schemas.openxmlformats.org/officeDocument/2006/relationships/notesSlide" Target="/ppt/notesSlides/notesSlide14.xml" Id="R0052872bb26d4d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Scheduled readings delivered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72F3D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Shortest-hop</c:v>
          </c:tx>
          <c:spPr>
            <a:solidFill xmlns:a="http://schemas.openxmlformats.org/drawingml/2006/main">
              <a:srgbClr val="6D7E8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Low load</c:v>
                </c:pt>
                <c:pt idx="1">
                  <c:v>Medium load</c:v>
                </c:pt>
                <c:pt idx="2">
                  <c:v>High load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0.985224</c:v>
                </c:pt>
                <c:pt idx="1">
                  <c:v>0.979247</c:v>
                </c:pt>
                <c:pt idx="2">
                  <c:v>0.73077</c:v>
                </c:pt>
              </c:numCache>
            </c:numRef>
          </c:val>
        </c:ser>
        <c:ser>
          <c:idx val="1"/>
          <c:order val="1"/>
          <c:tx>
            <c:v>Reactive</c:v>
          </c:tx>
          <c:spPr>
            <a:solidFill xmlns:a="http://schemas.openxmlformats.org/drawingml/2006/main">
              <a:srgbClr val="4D72C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Low load</c:v>
                </c:pt>
                <c:pt idx="1">
                  <c:v>Medium load</c:v>
                </c:pt>
                <c:pt idx="2">
                  <c:v>High load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0.986144</c:v>
                </c:pt>
                <c:pt idx="1">
                  <c:v>0.982167</c:v>
                </c:pt>
                <c:pt idx="2">
                  <c:v>0.748167</c:v>
                </c:pt>
              </c:numCache>
            </c:numRef>
          </c:val>
        </c:ser>
        <c:ser>
          <c:idx val="2"/>
          <c:order val="2"/>
          <c:tx>
            <c:v>Predictive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Low load</c:v>
                </c:pt>
                <c:pt idx="1">
                  <c:v>Medium load</c:v>
                </c:pt>
                <c:pt idx="2">
                  <c:v>High load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0.986785</c:v>
                </c:pt>
                <c:pt idx="1">
                  <c:v>0.984986</c:v>
                </c:pt>
                <c:pt idx="2">
                  <c:v>0.750503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9FBFB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urse">
            <a:extLst xmlns:a="http://schemas.openxmlformats.org/drawingml/2006/main">
              <a:ext uri="{FF2B5EF4-FFF2-40B4-BE49-F238E27FC236}">
                <a16:creationId xmlns:a16="http://schemas.microsoft.com/office/drawing/2014/main" id="{3E181E63-A046-4340-8D1C-61415610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4DCE0"/>
                </a:solidFill>
                <a:latin typeface="DejaVu Sans"/>
                <a:ea typeface="DejaVu Sans"/>
                <a:cs typeface="DejaVu Sans"/>
              </a:rPr>
              <a:t>BCSE308P COMPUTER NETWORKS 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D911D5-5F3C-48A1-8C40-017093B4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Predictive Adaptive Mesh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Routing Protocol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811C33F-969E-4957-91D6-C158562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9FE0D4"/>
                </a:solidFill>
                <a:latin typeface="DejaVu Sans"/>
                <a:ea typeface="DejaVu Sans"/>
                <a:cs typeface="DejaVu Sans"/>
              </a:rPr>
              <a:t>Energy-Constrained IoT Networks</a:t>
            </a:r>
          </a:p>
        </p:txBody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8BF6346F-CE5D-4D5C-BF04-E22D5F2F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F2  Team 19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Siddhi Gulati  24BCE0817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Harshitha Nethi  24BCT0084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Saamiya Siddique  24BKT0146</a:t>
            </a:r>
          </a:p>
        </p:txBody>
      </p:sp>
    </p:spTree>
    <p:extLst>
      <p:ext uri="{BB962C8B-B14F-4D97-AF65-F5344CB8AC3E}">
        <p14:creationId xmlns:p14="http://schemas.microsoft.com/office/powerpoint/2010/main" val="627346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A1E8176-BECF-4584-8157-3AA65E43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Problem and motivation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910B65A-E32A-466D-BF3F-2A537A06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34B10FE-441C-4323-A461-214E561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Sensors forward readings through neighboring relays to reach a gateway.</a:t>
            </a:r>
          </a:p>
        </p:txBody>
      </p:sp>
      <p:sp>
        <p:nvSpPr>
          <p:cNvPr id="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0EA0E5A-4740-4E38-BF2A-D1F1B23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 heavily used relay can exhaust its battery and interrupt several sources.</a:t>
            </a:r>
          </a:p>
        </p:txBody>
      </p:sp>
      <p:sp>
        <p:nvSpPr>
          <p:cNvPr id="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4A06A5C-BE85-42B5-A1A3-A060DCFD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Current battery level can hide a rapidly increasing drain rate.</a:t>
            </a:r>
          </a:p>
        </p:txBody>
      </p:sp>
      <p:sp>
        <p:nvSpPr>
          <p:cNvPr id="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6009D60-74D8-44D7-AE10-CD09F4D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Question: does forecasting energy improve next-hop selection?</a:t>
            </a:r>
          </a:p>
        </p:txBody>
      </p:sp>
    </p:spTree>
    <p:extLst>
      <p:ext uri="{BB962C8B-B14F-4D97-AF65-F5344CB8AC3E}">
        <p14:creationId xmlns:p14="http://schemas.microsoft.com/office/powerpoint/2010/main" val="521290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7A7546-906A-49B4-B533-9A21B10D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Existing mechanisms and baseline gap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27F275A-BD22-444F-9ECD-1CDB2D37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AAAB-4D94-474E-AA73-9B6C252F73AC}"/>
              </a:ext>
            </a:extLst>
          </p:cNvPr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667125"/>
                <a:gridCol w="4514850"/>
              </a:tblGrid>
              <a:tr h="6953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Useful idea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 for this prototype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RPL and LLN metrics [1,2]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Rooted routing and node/link metrics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should a forecast affect a local score?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MRHOF [3]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Hysteresis limits route churn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we stabilize forecast-driven switches?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Shortest-hop baseline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Minimum-hop progress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use can concentrate battery drain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Reactive baseline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energy, loss and queue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additional benefit comes from prediction?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D71498B-2AF1-4902-B2FF-4D9469CD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The contribution is an implemented comparison. Publication-level novelty has not been established.</a:t>
            </a:r>
          </a:p>
        </p:txBody>
      </p:sp>
    </p:spTree>
    <p:extLst>
      <p:ext uri="{BB962C8B-B14F-4D97-AF65-F5344CB8AC3E}">
        <p14:creationId xmlns:p14="http://schemas.microsoft.com/office/powerpoint/2010/main" val="741101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7EA47-DF20-4B09-8D4B-5313CA99D2E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020300" y="28098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869E-8F9E-419D-914F-6E3259DA9AC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44291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C4CDE-023F-450A-8358-B4637BE8E05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8098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744A8-DE23-438A-852F-565C8222B7C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20000" y="22860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B1734-FBEA-4E04-97BD-730BCEC4312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95700" y="22860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triangle" w="med" len="med"/>
          </a:ln>
        </p:spPr>
      </p:cxn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99E38184-BD91-4D1E-9C1B-A4A78AEE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System architecture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1335FD2-1CC8-4273-90E8-2201FAC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traffic">
            <a:extLst xmlns:a="http://schemas.openxmlformats.org/drawingml/2006/main">
              <a:ext uri="{FF2B5EF4-FFF2-40B4-BE49-F238E27FC236}">
                <a16:creationId xmlns:a16="http://schemas.microsoft.com/office/drawing/2014/main" id="{99B6FFB9-316B-4E93-9761-C599BAA5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9525">
            <a:solidFill>
              <a:srgbClr val="A7C8C8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Seeded topology</a:t>
            </a:r>
          </a:p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and scheduled traffic</a:t>
            </a:r>
          </a:p>
        </p:txBody>
      </p:sp>
      <p:sp>
        <p:nvSpPr>
          <p:cNvPr id="4" name="network">
            <a:extLst xmlns:a="http://schemas.openxmlformats.org/drawingml/2006/main">
              <a:ext uri="{FF2B5EF4-FFF2-40B4-BE49-F238E27FC236}">
                <a16:creationId xmlns:a16="http://schemas.microsoft.com/office/drawing/2014/main" id="{A7E393E8-7AEC-41C4-A715-8FCC7D9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9525">
            <a:solidFill>
              <a:srgbClr val="A7C8C8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Packet queues</a:t>
            </a:r>
          </a:p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and battery model</a:t>
            </a:r>
          </a:p>
        </p:txBody>
      </p:sp>
      <p:sp>
        <p:nvSpPr>
          <p:cNvPr id="5" name="policy">
            <a:extLst xmlns:a="http://schemas.openxmlformats.org/drawingml/2006/main">
              <a:ext uri="{FF2B5EF4-FFF2-40B4-BE49-F238E27FC236}">
                <a16:creationId xmlns:a16="http://schemas.microsoft.com/office/drawing/2014/main" id="{706761DF-A59F-4836-B7A5-620F5F2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6212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9525">
            <a:solidFill>
              <a:srgbClr val="A7C8C8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Local observations</a:t>
            </a:r>
          </a:p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and parent selection</a:t>
            </a:r>
          </a:p>
        </p:txBody>
      </p:sp>
      <p:sp>
        <p:nvSpPr>
          <p:cNvPr id="6" name="metrics">
            <a:extLst xmlns:a="http://schemas.openxmlformats.org/drawingml/2006/main">
              <a:ext uri="{FF2B5EF4-FFF2-40B4-BE49-F238E27FC236}">
                <a16:creationId xmlns:a16="http://schemas.microsoft.com/office/drawing/2014/main" id="{C7BC38CC-4CD7-4566-9772-15B901A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9525">
            <a:solidFill>
              <a:srgbClr val="A7C8C8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Run history</a:t>
            </a:r>
          </a:p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and metrics</a:t>
            </a:r>
          </a:p>
        </p:txBody>
      </p:sp>
      <p:sp>
        <p:nvSpPr>
          <p:cNvPr id="7" name="dashboard">
            <a:extLst xmlns:a="http://schemas.openxmlformats.org/drawingml/2006/main">
              <a:ext uri="{FF2B5EF4-FFF2-40B4-BE49-F238E27FC236}">
                <a16:creationId xmlns:a16="http://schemas.microsoft.com/office/drawing/2014/main" id="{C8138EEB-A3D0-4546-AF48-7A893A5C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9525">
            <a:solidFill>
              <a:srgbClr val="A7C8C8"/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HTTP API</a:t>
            </a:r>
          </a:p>
          <a:p xmlns:a="http://schemas.openxmlformats.org/drawingml/2006/main">
            <a:pPr algn="ctr">
              <a:def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and dashboard replay</a:t>
            </a:r>
          </a:p>
        </p:txBody>
      </p:sp>
      <p:sp>
        <p:nvSpPr>
          <p:cNvPr id="13" name="context">
            <a:extLst xmlns:a="http://schemas.openxmlformats.org/drawingml/2006/main">
              <a:ext uri="{FF2B5EF4-FFF2-40B4-BE49-F238E27FC236}">
                <a16:creationId xmlns:a16="http://schemas.microsoft.com/office/drawing/2014/main" id="{0D92D172-C091-453A-ADD2-05377503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Same physical network and workload for all three strategies</a:t>
            </a:r>
          </a:p>
        </p:txBody>
      </p:sp>
      <p:sp>
        <p:nvSpPr>
          <p:cNvPr id="14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119A75C-F8D4-4EC8-9179-014EB7AB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Physical connectivity is a mesh. Forwarding follows one selected parent per sensor and strictly decreasing initial levels.</a:t>
            </a:r>
          </a:p>
        </p:txBody>
      </p:sp>
    </p:spTree>
    <p:extLst>
      <p:ext uri="{BB962C8B-B14F-4D97-AF65-F5344CB8AC3E}">
        <p14:creationId xmlns:p14="http://schemas.microsoft.com/office/powerpoint/2010/main" val="2092033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C5F448D-3863-48B6-9B79-0E4DE31D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Energy prediction with EWMA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093F1AA-EC58-4E1B-AE0D-421466F9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eq1">
            <a:extLst xmlns:a="http://schemas.openxmlformats.org/drawingml/2006/main">
              <a:ext uri="{FF2B5EF4-FFF2-40B4-BE49-F238E27FC236}">
                <a16:creationId xmlns:a16="http://schemas.microsoft.com/office/drawing/2014/main" id="{C690B546-F57F-470D-A9A6-B3E6EAB3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drain = α × recent drain + (1 − α) × previous drain</a:t>
            </a:r>
          </a:p>
        </p:txBody>
      </p:sp>
      <p:sp>
        <p:nvSpPr>
          <p:cNvPr id="4" name="eq2">
            <a:extLst xmlns:a="http://schemas.openxmlformats.org/drawingml/2006/main">
              <a:ext uri="{FF2B5EF4-FFF2-40B4-BE49-F238E27FC236}">
                <a16:creationId xmlns:a16="http://schemas.microsoft.com/office/drawing/2014/main" id="{4141E22B-8A60-40F2-9332-0D94294E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future energy = max(0, energy − drain × (H + age))</a:t>
            </a:r>
          </a:p>
        </p:txBody>
      </p:sp>
      <p:sp>
        <p:nvSpPr>
          <p:cNvPr id="5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B7CC8D2-90F4-4356-95E6-581B2B1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Sample every 5 seconds. Advertise every 10 seconds.</a:t>
            </a:r>
          </a:p>
        </p:txBody>
      </p:sp>
      <p:sp>
        <p:nvSpPr>
          <p:cNvPr id="6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2088DD2-927B-488D-B9E3-7F11678A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Defaults: α = 0.35 and forecast horizon H = 40 seconds.</a:t>
            </a:r>
          </a:p>
        </p:txBody>
      </p:sp>
      <p:sp>
        <p:nvSpPr>
          <p:cNvPr id="7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FCD41EB-483E-4123-A727-BCA9568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Recent consumption must remain informative over the horizon.</a:t>
            </a:r>
          </a:p>
        </p:txBody>
      </p:sp>
      <p:sp>
        <p:nvSpPr>
          <p:cNvPr id="8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54592AF-84B7-4F5A-B5BF-4E12767B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Advertisement age corrects an older energy sample. Abrupt load changes can make the forecast inaccurate.</a:t>
            </a:r>
          </a:p>
        </p:txBody>
      </p:sp>
    </p:spTree>
    <p:extLst>
      <p:ext uri="{BB962C8B-B14F-4D97-AF65-F5344CB8AC3E}">
        <p14:creationId xmlns:p14="http://schemas.microsoft.com/office/powerpoint/2010/main" val="1511926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B5721E0-EDFB-48B7-AA3E-B5B28A3B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Parent selection and loop prevention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B16C2F2-1987-4918-A4CD-9C74D34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cost">
            <a:extLst xmlns:a="http://schemas.openxmlformats.org/drawingml/2006/main">
              <a:ext uri="{FF2B5EF4-FFF2-40B4-BE49-F238E27FC236}">
                <a16:creationId xmlns:a16="http://schemas.microsoft.com/office/drawing/2014/main" id="{555E80F5-1A7B-48F5-9FE9-26E89814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Cost = 0.65 × energy risk</a:t>
            </a:r>
          </a:p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        + 0.20 × link loss + 0.15 × queue fraction</a:t>
            </a:r>
          </a:p>
        </p:txBody>
      </p:sp>
      <p:sp>
        <p:nvSpPr>
          <p:cNvPr id="4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CC6C02-7CC6-48CE-82CB-3B1D939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Eligible parents have a fresh advertisement and a lower initial BFS level.</a:t>
            </a:r>
          </a:p>
        </p:txBody>
      </p:sp>
      <p:sp>
        <p:nvSpPr>
          <p:cNvPr id="5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935D261-1F91-40F4-9468-17196B0A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Choose the lowest cost. Switch only if improvement exceeds 0.06.</a:t>
            </a:r>
          </a:p>
        </p:txBody>
      </p:sp>
      <p:sp>
        <p:nvSpPr>
          <p:cNvPr id="6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0A97E1F-088F-4443-B9D4-1E47552D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Retain packets while no route exists, until TTL expires.</a:t>
            </a:r>
          </a:p>
        </p:txBody>
      </p:sp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468C8BD-EF01-4282-B5C8-A83A53A6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The reactive baseline uses current advertised energy. PAMR replaces it with estimated future energy.</a:t>
            </a:r>
          </a:p>
        </p:txBody>
      </p:sp>
    </p:spTree>
    <p:extLst>
      <p:ext uri="{BB962C8B-B14F-4D97-AF65-F5344CB8AC3E}">
        <p14:creationId xmlns:p14="http://schemas.microsoft.com/office/powerpoint/2010/main" val="1598173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A085C1-F597-40D0-9DCB-FD2D8C73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Worked routing example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5442E38-9D7C-4D52-9F0A-03A35800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2BDCC-1F37-4B8F-9793-0CAC0413CAAB}"/>
              </a:ext>
            </a:extLst>
          </p:cNvPr>
          <p:cNvGraphicFramePr/>
          <p:nvPr/>
        </p:nvGraphicFramePr>
        <p:xfrm>
          <a:off xmlns:a="http://schemas.openxmlformats.org/drawingml/2006/main" x="647700" y="1762125"/>
          <a:ext xmlns:a="http://schemas.openxmlformats.org/drawingml/2006/main" cx="108966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000250"/>
                <a:gridCol w="2000250"/>
                <a:gridCol w="2190750"/>
                <a:gridCol w="2514600"/>
              </a:tblGrid>
              <a:tr h="7302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Energy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Drain EU/s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Energy +40s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Predictive cost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Relay 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 EU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 EU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0.4140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Relay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 EU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 EU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0.2985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5BB8006F-1955-436C-B1C0-9000223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Reactive energy prefers A. The forecast prefers B because its energy drains more slowly.</a:t>
            </a:r>
          </a:p>
        </p:txBody>
      </p:sp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9B93814-1135-485A-86A3-D3C89B90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Example link success: A 0.90, B 0.85. Queues: A 4 packets, B 2 packets.</a:t>
            </a:r>
          </a:p>
        </p:txBody>
      </p:sp>
    </p:spTree>
    <p:extLst>
      <p:ext uri="{BB962C8B-B14F-4D97-AF65-F5344CB8AC3E}">
        <p14:creationId xmlns:p14="http://schemas.microsoft.com/office/powerpoint/2010/main" val="36826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A7D0738-859A-40A2-9D1C-542488D4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Implementation setup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BAD0050-2C8B-40D3-A812-382F9FF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01B3BD6-1BF9-4AD4-828B-DAA2FB46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Python simulator with an HTML, JavaScript and SVG dashboard.</a:t>
            </a:r>
          </a:p>
        </p:txBody>
      </p:sp>
      <p:sp>
        <p:nvSpPr>
          <p:cNvPr id="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BBFAA58-F039-4105-82D4-E17B02F4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30 sensors and one powered gateway. Static positions, radius 32.</a:t>
            </a:r>
          </a:p>
        </p:txBody>
      </p:sp>
      <p:sp>
        <p:nvSpPr>
          <p:cNvPr id="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CF9252E-1114-4A08-A516-4081CFCB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400 seconds per run. Queues hold 20 packets. TTL is 100 seconds.</a:t>
            </a:r>
          </a:p>
        </p:txBody>
      </p:sp>
      <p:sp>
        <p:nvSpPr>
          <p:cNvPr id="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E8B03D4-93C9-458F-8427-72DDA28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Three attempts per current hop. Data TX/RX costs 0.10/0.05 EU.</a:t>
            </a:r>
          </a:p>
        </p:txBody>
      </p:sp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0642154-0537-4ACA-84D5-CB0B4B3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Saved JSON configuration and topology files reproduce the default simulation without Packet Tracer.</a:t>
            </a:r>
          </a:p>
        </p:txBody>
      </p:sp>
    </p:spTree>
    <p:extLst>
      <p:ext uri="{BB962C8B-B14F-4D97-AF65-F5344CB8AC3E}">
        <p14:creationId xmlns:p14="http://schemas.microsoft.com/office/powerpoint/2010/main" val="93415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93DB786-0980-4196-AA54-A915A8D6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Scenarios and performance metrics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3A0259D-09FB-4B7C-B514-EA5A8889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CEF2A-DF60-4C47-A90F-0673C7721F93}"/>
              </a:ext>
            </a:extLst>
          </p:cNvPr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96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333750"/>
                <a:gridCol w="50863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packet probability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S1 / S2 / S3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0.015 / 0.030 / 0.060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 / medium / high steady load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S4 Burst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Triple probability in middle third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S5 Failure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Relay 1 forced offline at 200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etrics">
            <a:extLst xmlns:a="http://schemas.openxmlformats.org/drawingml/2006/main">
              <a:ext uri="{FF2B5EF4-FFF2-40B4-BE49-F238E27FC236}">
                <a16:creationId xmlns:a16="http://schemas.microsoft.com/office/drawing/2014/main" id="{11508E0A-9E16-4D22-A4AD-0E10DBD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Metrics: demand delivery, packet delivery, delay, energy per delivered packet, first battery death, route changes and forecast error.</a:t>
            </a:r>
          </a:p>
        </p:txBody>
      </p:sp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A92DCAC8-72A6-4DF7-A8FB-E14B97C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Ten matched seeds per case. Report means and sample SD, with no-death observations censored at 400 seconds.</a:t>
            </a:r>
          </a:p>
        </p:txBody>
      </p:sp>
    </p:spTree>
    <p:extLst>
      <p:ext uri="{BB962C8B-B14F-4D97-AF65-F5344CB8AC3E}">
        <p14:creationId xmlns:p14="http://schemas.microsoft.com/office/powerpoint/2010/main" val="1581514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D0EFB5-4C38-4E84-91FC-A16C0A77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Repeated-run delivery results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1B0C92F-852F-4379-9D53-57A84EF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6CC40-48D8-495E-A8B7-D48D7BB408CC}"/>
              </a:ext>
            </a:extLst>
          </p:cNvPr>
          <p:cNvGraphicFramePr/>
          <p:nvPr/>
        </p:nvGraphicFramePr>
        <p:xfrm>
          <a:off xmlns:a="http://schemas.openxmlformats.org/drawingml/2006/main" x="647700" y="1809750"/>
          <a:ext xmlns:a="http://schemas.openxmlformats.org/drawingml/2006/main" cx="10896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857500"/>
                <a:gridCol w="2857500"/>
                <a:gridCol w="2847975"/>
              </a:tblGrid>
              <a:tr h="69056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Steady load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Shortest-hop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Reactive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Predictive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</a:tr>
              <a:tr h="69056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98.52 ± 0.84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98.61 ± 0.70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98.68 ± 0.80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97.92 ± 1.21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98.22 ± 1.03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98.50 ± 0.64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69056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73.08 ± 3.46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74.82 ± 3.11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75.05 ± 2.42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sult">
            <a:extLst xmlns:a="http://schemas.openxmlformats.org/drawingml/2006/main">
              <a:ext uri="{FF2B5EF4-FFF2-40B4-BE49-F238E27FC236}">
                <a16:creationId xmlns:a16="http://schemas.microsoft.com/office/drawing/2014/main" id="{FFB378CD-2393-4B17-A49F-563DA7E3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At high load, prediction improves mean delivery by 1.97 percentage points relative to shortest-hop.</a:t>
            </a:r>
          </a:p>
        </p:txBody>
      </p:sp>
    </p:spTree>
    <p:extLst>
      <p:ext uri="{BB962C8B-B14F-4D97-AF65-F5344CB8AC3E}">
        <p14:creationId xmlns:p14="http://schemas.microsoft.com/office/powerpoint/2010/main" val="11328934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F9046E-E19F-4F3F-B636-545933B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Delivery across load levels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84895A0-C878-44A6-8853-C1283D9B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284517-6E70-4FAE-995D-5F67F8AF7124}"/>
              </a:ext>
            </a:extLst>
          </p:cNvPr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108966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fbaa198ce64dbd"/>
          </a:graphicData>
        </a:graphic>
      </p:graphicFrame>
      <p:sp>
        <p:nvSpPr>
          <p:cNvPr id="4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1B6E159-EF6D-405C-8C15-418A0FA8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Mean differences are modest relative to some run-to-run variation. This chart does not establish statistical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1496054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8F2742-CA84-45A9-8245-9CB24B11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Stress cases and a counterexample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DB98847-D250-4DAD-933D-F5F007EA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3FFAC-5EE8-4B45-90EF-AC2AE42BC162}"/>
              </a:ext>
            </a:extLst>
          </p:cNvPr>
          <p:cNvGraphicFramePr/>
          <p:nvPr/>
        </p:nvGraphicFramePr>
        <p:xfrm>
          <a:off xmlns:a="http://schemas.openxmlformats.org/drawingml/2006/main" x="647700" y="1666875"/>
          <a:ext xmlns:a="http://schemas.openxmlformats.org/drawingml/2006/main" cx="108966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857500"/>
                <a:gridCol w="2857500"/>
                <a:gridCol w="2847975"/>
              </a:tblGrid>
              <a:tr h="7302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Stress case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Shortest-hop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Reactive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Predictive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T w="9525">
                      <a:solidFill>
                        <a:srgbClr val="D5E0E1"/>
                      </a:solidFill>
                      <a:prstDash val="solid"/>
                    </a:lnT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DFEBEC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Traffic burst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73.26 ± 5.88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75.51 ± 5.03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75.85 ± 4.62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Relay failure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E0E1"/>
                      </a:solidFill>
                      <a:prstDash val="solid"/>
                    </a:lnL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79.15 ± 4.54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81.74 ± 4.31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F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81.83 ± 4.71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E0E1"/>
                      </a:solidFill>
                      <a:prstDash val="solid"/>
                    </a:lnR>
                    <a:lnB w="9525">
                      <a:solidFill>
                        <a:srgbClr val="D5E0E1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counter">
            <a:extLst xmlns:a="http://schemas.openxmlformats.org/drawingml/2006/main">
              <a:ext uri="{FF2B5EF4-FFF2-40B4-BE49-F238E27FC236}">
                <a16:creationId xmlns:a16="http://schemas.microsoft.com/office/drawing/2014/main" id="{1D5156D5-C3F8-4D02-B42C-0F972CE9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Seed 42 burst: predictive delivery is 80.94%, compared with 82.32% for reactive routing.</a:t>
            </a:r>
          </a:p>
        </p:txBody>
      </p:sp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B136F931-ED08-4B65-AB42-2393AEE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Prediction can improve an aggregate result while losing on a particular seed or another metric.</a:t>
            </a:r>
          </a:p>
        </p:txBody>
      </p:sp>
    </p:spTree>
    <p:extLst>
      <p:ext uri="{BB962C8B-B14F-4D97-AF65-F5344CB8AC3E}">
        <p14:creationId xmlns:p14="http://schemas.microsoft.com/office/powerpoint/2010/main" val="844751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EED9390-A0A3-4538-9A2C-5885ACFA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Analysis and limitations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537D940-6956-480F-8575-11975F04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EB7CB9-99CF-495C-8A51-59A7CFD5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Idle and control costs dominate more strongly at low traffic.</a:t>
            </a:r>
          </a:p>
        </p:txBody>
      </p:sp>
      <p:sp>
        <p:nvSpPr>
          <p:cNvPr id="4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2E4A18B-87CC-4DA1-B249-DA38846D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High load exposes queue and gateway-adjacent relay bottlenecks.</a:t>
            </a:r>
          </a:p>
        </p:txBody>
      </p:sp>
      <p:sp>
        <p:nvSpPr>
          <p:cNvPr id="5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6B9BDE5-7E10-4EE2-B630-93288BA2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Energy costs are synthetic. Link attempts ignore RF contention.</a:t>
            </a:r>
          </a:p>
        </p:txBody>
      </p:sp>
      <p:sp>
        <p:nvSpPr>
          <p:cNvPr id="6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186767C-F7CF-4E51-800D-083887D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Fixed initial levels prevent loops but can block useful detours.</a:t>
            </a:r>
          </a:p>
        </p:txBody>
      </p:sp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399641F-C853-4083-83AE-5238E7F6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Fourteen automated checks pass. Real dashboard screenshot evidence must be captured on the presentation laptop.</a:t>
            </a:r>
          </a:p>
        </p:txBody>
      </p:sp>
    </p:spTree>
    <p:extLst>
      <p:ext uri="{BB962C8B-B14F-4D97-AF65-F5344CB8AC3E}">
        <p14:creationId xmlns:p14="http://schemas.microsoft.com/office/powerpoint/2010/main" val="194566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E089449-202D-47D6-B8DF-D572E0C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Conclusion future work and references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865C47B-492E-4DEB-AD61-734BB6B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2D738B97-F6B3-4B40-9B7E-F9598B6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 reproducible prototype shows conditional gains and explicit routing trade-offs.</a:t>
            </a:r>
          </a:p>
        </p:txBody>
      </p:sp>
      <p:sp>
        <p:nvSpPr>
          <p:cNvPr id="4" name="future">
            <a:extLst xmlns:a="http://schemas.openxmlformats.org/drawingml/2006/main">
              <a:ext uri="{FF2B5EF4-FFF2-40B4-BE49-F238E27FC236}">
                <a16:creationId xmlns:a16="http://schemas.microsoft.com/office/drawing/2014/main" id="{D93C44AF-B54A-4B2C-84FD-0DF40B7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F3D"/>
                </a:solidFill>
                <a:latin typeface="DejaVu Sans"/>
                <a:ea typeface="DejaVu Sans"/>
                <a:cs typeface="DejaVu Sans"/>
              </a:rPr>
              <a:t>Next: calibrated energy, realistic contention, distributed repair, and parameter sensitivity.</a:t>
            </a:r>
          </a:p>
        </p:txBody>
      </p:sp>
      <p:sp>
        <p:nvSpPr>
          <p:cNvPr id="5" name="references">
            <a:extLst xmlns:a="http://schemas.openxmlformats.org/drawingml/2006/main">
              <a:ext uri="{FF2B5EF4-FFF2-40B4-BE49-F238E27FC236}">
                <a16:creationId xmlns:a16="http://schemas.microsoft.com/office/drawing/2014/main" id="{10D8A4FE-81F3-43B0-8563-F6E2BCEC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[1] Winter et al.  RPL  RFC 6550  2012</a:t>
            </a:r>
          </a:p>
          <a:p xmlns:a="http://schemas.openxmlformats.org/drawingml/2006/main">
            <a: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[2] Vasseur et al.  LLN routing metrics  RFC 6551  2012</a:t>
            </a:r>
          </a:p>
          <a:p xmlns:a="http://schemas.openxmlformats.org/drawingml/2006/main">
            <a: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[3] Gnawali and Levis  MRHOF  RFC 6719  2012</a:t>
            </a:r>
          </a:p>
          <a:p xmlns:a="http://schemas.openxmlformats.org/drawingml/2006/main">
            <a:pPr>
              <a:def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977"/>
                </a:solidFill>
                <a:latin typeface="DejaVu Sans"/>
                <a:ea typeface="DejaVu Sans"/>
                <a:cs typeface="DejaVu Sans"/>
              </a:rPr>
              <a:t>[4] NIST/SEMATECH  Single Exponential Smoothing</a:t>
            </a:r>
          </a:p>
        </p:txBody>
      </p:sp>
    </p:spTree>
    <p:extLst>
      <p:ext uri="{BB962C8B-B14F-4D97-AF65-F5344CB8AC3E}">
        <p14:creationId xmlns:p14="http://schemas.microsoft.com/office/powerpoint/2010/main" val="1201349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2026-10-27T15:03:48.1040000Z</dcterms:created>
  <dcterms:modified xsi:type="dcterms:W3CDTF">2026-10-27T15:03:48.1040000Z</dcterms:modified>
</coreProperties>
</file>